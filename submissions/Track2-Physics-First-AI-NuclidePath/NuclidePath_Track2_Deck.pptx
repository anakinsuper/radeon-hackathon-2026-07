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core promise: AI coordinates the workflow, but deterministic code owns every physical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failure mode, then the boundary and auditable result. Avoid claiming operational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left-to-right. Emphasize localhost, permission gate, local RAG, deterministic transport and checksummed outputs.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official requirement is at least two of five; NuclidePath implements all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Describe the formulas and say validation means software/formula verification, not regulatory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measured numbers only. The current AMD v0.3 run is verified; the equality check compares physical runs, not timestamped memory files.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the live UI in the video. This slide is a fallback visual and repository preview.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reported intervals are input-range propagation, not total predictive uncertainty.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current evidence: local, tested, reproducible and honest about scope. The 137.09× result is the measured device-resident FP64 primary-GCS to receptor pipeline versus the scalar reference, not environmental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475488"/>
            <a:ext cx="4023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6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AI DEVMASTER 2026 · TRACK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40080" y="1024128"/>
            <a:ext cx="4572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4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NuclidePath</a:t>
            </a:r>
            <a:endParaRPr lang="en-US" sz="4200" dirty="0"/>
          </a:p>
        </p:txBody>
      </p:sp>
      <p:sp>
        <p:nvSpPr>
          <p:cNvPr id="5" name="Text 3"/>
          <p:cNvSpPr/>
          <p:nvPr/>
        </p:nvSpPr>
        <p:spPr>
          <a:xfrm>
            <a:off x="658368" y="1856232"/>
            <a:ext cx="42519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Private agents.</a:t>
            </a:r>
            <a:endParaRPr lang="en-US" sz="2900" dirty="0"/>
          </a:p>
          <a:p>
            <a:pPr algn="l" indent="0" marL="0">
              <a:buNone/>
            </a:pPr>
            <a:r>
              <a:rPr lang="en-US" sz="29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Deterministic physics.</a:t>
            </a:r>
            <a:endParaRPr lang="en-US" sz="2900" dirty="0"/>
          </a:p>
        </p:txBody>
      </p:sp>
      <p:sp>
        <p:nvSpPr>
          <p:cNvPr id="6" name="Text 4"/>
          <p:cNvSpPr/>
          <p:nvPr/>
        </p:nvSpPr>
        <p:spPr>
          <a:xfrm>
            <a:off x="658368" y="3246120"/>
            <a:ext cx="42519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local AI workflow for traceable Cs-137 groundwater screening — with cited evidence, uncertainty and zero LLM-generated physics.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58368" y="4434840"/>
            <a:ext cx="1353312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453128"/>
            <a:ext cx="120700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LOCAL ONLY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148840" y="4434840"/>
            <a:ext cx="1298448" cy="292608"/>
          </a:xfrm>
          <a:prstGeom prst="roundRect">
            <a:avLst>
              <a:gd name="adj" fmla="val 25000"/>
            </a:avLst>
          </a:prstGeom>
          <a:solidFill>
            <a:srgbClr val="FF6B00">
              <a:alpha val="22000"/>
            </a:srgbClr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21992" y="4453128"/>
            <a:ext cx="11521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ROCm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58368" y="598932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" y="627278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Stefano Rigante · Nuclear engineer</a:t>
            </a:r>
            <a:endParaRPr lang="en-US" sz="1000" dirty="0"/>
          </a:p>
        </p:txBody>
      </p:sp>
      <p:pic>
        <p:nvPicPr>
          <p:cNvPr id="13" name="Image 0" descr="NuclidePath verified local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10912" y="566928"/>
            <a:ext cx="6720840" cy="420624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5010912" y="4800600"/>
            <a:ext cx="6720840" cy="1161288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276088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16" name="Text 13"/>
          <p:cNvSpPr/>
          <p:nvPr/>
        </p:nvSpPr>
        <p:spPr>
          <a:xfrm>
            <a:off x="5276088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capabilities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7452360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231</a:t>
            </a:r>
            <a:endParaRPr lang="en-US" sz="3600" dirty="0"/>
          </a:p>
        </p:txBody>
      </p:sp>
      <p:sp>
        <p:nvSpPr>
          <p:cNvPr id="18" name="Text 15"/>
          <p:cNvSpPr/>
          <p:nvPr/>
        </p:nvSpPr>
        <p:spPr>
          <a:xfrm>
            <a:off x="7452360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tests passed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9555480" y="4992624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216/13</a:t>
            </a:r>
            <a:endParaRPr lang="en-US" sz="3600" dirty="0"/>
          </a:p>
        </p:txBody>
      </p:sp>
      <p:sp>
        <p:nvSpPr>
          <p:cNvPr id="20" name="Text 17"/>
          <p:cNvSpPr/>
          <p:nvPr/>
        </p:nvSpPr>
        <p:spPr>
          <a:xfrm>
            <a:off x="9555480" y="5650992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lean pass/skip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TRUST GAP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Technical AI fails when language becomes calculation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NuclidePath makes the responsibility boundary explicit and testable.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783080"/>
            <a:ext cx="73152" cy="3429000"/>
          </a:xfrm>
          <a:prstGeom prst="rect">
            <a:avLst/>
          </a:prstGeom>
          <a:solidFill>
            <a:srgbClr val="FA4D56"/>
          </a:solidFill>
          <a:ln w="12700">
            <a:solidFill>
              <a:srgbClr val="FA4D5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1381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01 · The failure mode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general-purpose LLM can invent parameters, equations, units or reassuring conclusions — all unacceptable in emergency-analysis workflows.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34840" y="1783080"/>
            <a:ext cx="73152" cy="342900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02 · The boundary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5429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model returns only a six-step allow-listed plan. Strict schemas feed deterministic physics, retrieval and uncertainty tools.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275320" y="1783080"/>
            <a:ext cx="3310128" cy="3429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783080"/>
            <a:ext cx="73152" cy="342900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94776" y="1947672"/>
            <a:ext cx="29626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03 · The outcome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494776" y="2286000"/>
            <a:ext cx="2962656" cy="2788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Every value is versioned, reproducible and tied to inputs, assumptions, sources, warnings and SHA-256 artifacts.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508760" y="5504688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A4D56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PLAN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2487168" y="5669280"/>
            <a:ext cx="2286000" cy="0"/>
          </a:xfrm>
          <a:prstGeom prst="line">
            <a:avLst/>
          </a:prstGeom>
          <a:noFill/>
          <a:ln w="25400">
            <a:solidFill>
              <a:srgbClr val="A7ADB5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828032" y="5504688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TOOLS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989320" y="5669280"/>
            <a:ext cx="2286000" cy="0"/>
          </a:xfrm>
          <a:prstGeom prst="line">
            <a:avLst/>
          </a:prstGeom>
          <a:noFill/>
          <a:ln w="25400">
            <a:solidFill>
              <a:srgbClr val="A7ADB5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8385048" y="55046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EVIDENCE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SYSTEM DESIGN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private workflow with an immutable physics boundary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AMD-local model plans. Five deterministic subsystems execute and report.</a:t>
            </a:r>
            <a:endParaRPr lang="en-US" sz="1300" dirty="0"/>
          </a:p>
        </p:txBody>
      </p:sp>
      <p:pic>
        <p:nvPicPr>
          <p:cNvPr id="5" name="Image 0" descr="NuclidePath architecture diagram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8368" y="1499616"/>
            <a:ext cx="10881360" cy="45537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All five private-agent capabilities are implemented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Each capability is exercised in the same end-to-end run and covered by tests.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03504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353312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Local retrieval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86384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Ranked excerpts, local paths, source URLs and transparent scores.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786384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BE95FF">
              <a:alpha val="22000"/>
            </a:srgbClr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59536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E95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425696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08576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75504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Tool invocation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608576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Environment Agent calls a strict, versioned JSON physics contract.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08576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FF6B00">
              <a:alpha val="22000"/>
            </a:srgbClr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81728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8247888" y="1691640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430768" y="182880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997696" y="1810512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Multi-step planning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430768" y="2313432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Deterministic fallback or Qwen3.5-9B returns six safe steps.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8430768" y="2971800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78A9FF">
              <a:alpha val="22000"/>
            </a:srgbClr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03920" y="2990088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8A9FF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03504" y="3666744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380390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353312" y="3785616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Multi-turn memory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786384" y="4288536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Session JSONL stays local, mode 0600, with explicit deletion.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86384" y="4946904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9536" y="496519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425696" y="3666744"/>
            <a:ext cx="3401568" cy="16276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608576" y="380390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A4D56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05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175504" y="3785616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Permissions + privacy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4608576" y="4288536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Role allowlist, recursive redaction and denied operational actions.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08576" y="4946904"/>
            <a:ext cx="841248" cy="292608"/>
          </a:xfrm>
          <a:prstGeom prst="roundRect">
            <a:avLst>
              <a:gd name="adj" fmla="val 25000"/>
            </a:avLst>
          </a:prstGeom>
          <a:solidFill>
            <a:srgbClr val="FA4D56">
              <a:alpha val="22000"/>
            </a:srgbClr>
          </a:solidFill>
          <a:ln w="12700">
            <a:solidFill>
              <a:srgbClr val="FA4D5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1728" y="4965192"/>
            <a:ext cx="6949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A4D56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VERIFIED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732520" y="385876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36" name="Text 34"/>
          <p:cNvSpPr/>
          <p:nvPr/>
        </p:nvSpPr>
        <p:spPr>
          <a:xfrm>
            <a:off x="8732520" y="451713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capability flags true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732520" y="4864608"/>
            <a:ext cx="2331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 workflow. One privacy boundary. No cloud dependency.</a:t>
            </a:r>
            <a:endParaRPr lang="en-US" sz="1800" dirty="0"/>
          </a:p>
        </p:txBody>
      </p:sp>
      <p:sp>
        <p:nvSpPr>
          <p:cNvPr id="38" name="Text 36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SCIENTIFIC CORE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LLM never calculates transport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Model 0.3 declares PDE, source and boundaries, then uses a verified analytical solution.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1792" y="1627632"/>
            <a:ext cx="5669280" cy="4315968"/>
          </a:xfrm>
          <a:prstGeom prst="rect">
            <a:avLst/>
          </a:prstGeom>
          <a:solidFill>
            <a:srgbClr val="0D1014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1920240"/>
            <a:ext cx="5010912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R ∂C/∂t = D ∂²C/∂x² − v ∂C/∂x − λRC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C(x,0)=0 · C(0,t)=C₀ · C(∞,t)=0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A = √(v² + 4λRD)</a:t>
            </a:r>
            <a:endParaRPr lang="en-US" sz="1700" dirty="0"/>
          </a:p>
          <a:p>
            <a:pPr algn="l" indent="0" marL="0">
              <a:buNone/>
            </a:pP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C/C₀ = ½[exp((v−A)x/2D) erfc(z₋)</a:t>
            </a:r>
            <a:endParaRPr lang="en-US" sz="17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FF9B57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      + exp((v+A)x/2D) erfc(z₊)]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960120" y="5413248"/>
            <a:ext cx="1965960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33272" y="5431536"/>
            <a:ext cx="18196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REACTIVE OGATA–BANKS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839712" y="176479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231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39712" y="24231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tests passed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189720" y="176479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189720" y="2423160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LLM physics values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39712" y="2907792"/>
            <a:ext cx="4736592" cy="1143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839712" y="2907792"/>
            <a:ext cx="73152" cy="1143000"/>
          </a:xfrm>
          <a:prstGeom prst="rect">
            <a:avLst/>
          </a:prstGeom>
          <a:solidFill>
            <a:srgbClr val="78A9FF"/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59168" y="30723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Independent analytical cases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059168" y="34107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Ogata–Banks limit · source boundary · reactive steady state · finite rejection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839712" y="4279392"/>
            <a:ext cx="4736592" cy="114300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839712" y="4279392"/>
            <a:ext cx="73152" cy="1143000"/>
          </a:xfrm>
          <a:prstGeom prst="rect">
            <a:avLst/>
          </a:prstGeom>
          <a:solidFill>
            <a:srgbClr val="F1C21B"/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59168" y="4443984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Explicit limitation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059168" y="4782312"/>
            <a:ext cx="4389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Constant-source 1-D screening — not a dose code, regulatory model or calibrated site prediction.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DEPLOYMENT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Qwen3.5-9B Q8 runs locally on Radeon + ROCm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measured local model fits in VRAM and produced the verified allow-listed plan.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65836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2,877.30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65836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prompt tokens/s · 512 tokens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675888" y="1664208"/>
            <a:ext cx="2743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67.66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3675888" y="23225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generation tokens/s · 128 tokens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693408" y="1664208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19.9692 s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693408" y="2322576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v0.3 LLM pipeline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528048" y="1664208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8.86 GiB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9528048" y="2322576"/>
            <a:ext cx="1920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Q8 model size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77240" y="312724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GPU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057400" y="312724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Radeon Graphics · gfx1100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" y="356616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Stack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057400" y="3566160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ROCm 7.2.1 · llama.cpp HIP Release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4005072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Offload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57400" y="4005072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-ngl 99 · all model layers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443984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Context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057400" y="4443984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8192 tokens · reasoning off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4882896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Network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057400" y="4882896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127.0.0.1:8000 only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77240" y="5321808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Integrity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057400" y="5321808"/>
            <a:ext cx="4251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SHA-256 verified model file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720840" y="3063240"/>
            <a:ext cx="4754880" cy="254203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9168" y="3474720"/>
            <a:ext cx="4069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OFFLINE  ≡  LLM-PLANNED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7333488" y="4224528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Identical physical runs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for the same scenario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8339328" y="5029200"/>
            <a:ext cx="1527048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2480" y="5047488"/>
            <a:ext cx="138074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 IDENTICAL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PRODUCT EXPERIENCE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 technical dashboard, not an AI chat box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Inputs, workflow, evidence, uncertainty and artifacts remain visible in one place.</a:t>
            </a:r>
            <a:endParaRPr lang="en-US" sz="1300" dirty="0"/>
          </a:p>
        </p:txBody>
      </p:sp>
      <p:pic>
        <p:nvPicPr>
          <p:cNvPr id="5" name="Image 0" descr="NuclidePath dashboard overview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54480"/>
            <a:ext cx="7635240" cy="47091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613648" y="1572768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8613648" y="1572768"/>
            <a:ext cx="73152" cy="1234440"/>
          </a:xfrm>
          <a:prstGeom prst="rect">
            <a:avLst/>
          </a:prstGeom>
          <a:solidFill>
            <a:srgbClr val="FF6B00"/>
          </a:solidFill>
          <a:ln w="12700">
            <a:solidFill>
              <a:srgbClr val="FF6B0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833104" y="1737360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Editable physics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833104" y="2075688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Kd, K+, velocity, porosity, distance and C₀.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13648" y="2999232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613648" y="2999232"/>
            <a:ext cx="73152" cy="123444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833104" y="3163824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Visible agency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833104" y="3502152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Six completed steps and 5/5 capability badges.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613648" y="4425696"/>
            <a:ext cx="2944368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8613648" y="4425696"/>
            <a:ext cx="73152" cy="1234440"/>
          </a:xfrm>
          <a:prstGeom prst="rect">
            <a:avLst/>
          </a:prstGeom>
          <a:solidFill>
            <a:srgbClr val="78A9FF"/>
          </a:solidFill>
          <a:ln w="12700">
            <a:solidFill>
              <a:srgbClr val="78A9FF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833104" y="4590288"/>
            <a:ext cx="25968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Auditable output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833104" y="4928616"/>
            <a:ext cx="2596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Ten downloadable artifacts plus a checksum manifest.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20040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0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TRUST LAYER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621792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000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Uncertainty is declared, classified and reproducible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85216" y="1143000"/>
            <a:ext cx="10789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project distinguishes literature evidence from demonstration inputs.</a:t>
            </a:r>
            <a:endParaRPr lang="en-US" sz="1300" dirty="0"/>
          </a:p>
        </p:txBody>
      </p:sp>
      <p:pic>
        <p:nvPicPr>
          <p:cNvPr id="5" name="Image 0" descr="NuclidePath uncertainty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536192"/>
            <a:ext cx="6995160" cy="4379976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955280" y="1572768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7955280" y="1572768"/>
            <a:ext cx="73152" cy="1234440"/>
          </a:xfrm>
          <a:prstGeom prst="rect">
            <a:avLst/>
          </a:prstGeom>
          <a:solidFill>
            <a:srgbClr val="BE95FF"/>
          </a:solidFill>
          <a:ln w="12700">
            <a:solidFill>
              <a:srgbClr val="BE95FF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174736" y="1737360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Literature-informed range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8174736" y="2075688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Cs Kd: 0.05–5.0 m³/kg · IAEA TECDOC-2095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955280" y="2999232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955280" y="2999232"/>
            <a:ext cx="73152" cy="1234440"/>
          </a:xfrm>
          <a:prstGeom prst="rect">
            <a:avLst/>
          </a:prstGeom>
          <a:solidFill>
            <a:srgbClr val="F1C21B"/>
          </a:solidFill>
          <a:ln w="12700">
            <a:solidFill>
              <a:srgbClr val="F1C21B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174736" y="3163824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Demonstration ranges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8174736" y="3502152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Hydraulics, dispersion, K+ and empirical competition are never presented as site truth.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7955280" y="4425696"/>
            <a:ext cx="3611880" cy="1234440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55280" y="4425696"/>
            <a:ext cx="73152" cy="1234440"/>
          </a:xfrm>
          <a:prstGeom prst="rect">
            <a:avLst/>
          </a:prstGeom>
          <a:solidFill>
            <a:srgbClr val="42BE65"/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74736" y="4590288"/>
            <a:ext cx="3264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Reproducible propagation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74736" y="4928616"/>
            <a:ext cx="326440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5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Seeded Monte Carlo · P05/P50/P95 · JSON/CSV/SVG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566928" y="6547104"/>
            <a:ext cx="7498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800" spc="1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PHYSICS-FIRST AI  ·  AMD AI DEVMASTER 2026  ·  TRACK 2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11119104" y="6519672"/>
            <a:ext cx="502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00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809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502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b="1" spc="180" kern="0" dirty="0">
                <a:solidFill>
                  <a:srgbClr val="FF6B00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WHY NUCLIDEPATH WINS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097280"/>
            <a:ext cx="562356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Private AI without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scientific surrender.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49808" y="297180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LOCAL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03120" y="2971800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Qwen3.5-9B + RAG + memory on AMD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49808" y="363016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VERIFIABLE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103120" y="363016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231 AMD tests + FP64 parity + SHA-256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4288536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USEFUL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103120" y="4288536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One-click workflow from case to report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49808" y="494690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1C21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HONEST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103120" y="4946904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Sources, assumptions, ranges and limits exposed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903720" y="658368"/>
            <a:ext cx="4645152" cy="5468112"/>
          </a:xfrm>
          <a:prstGeom prst="rect">
            <a:avLst/>
          </a:prstGeom>
          <a:solidFill>
            <a:srgbClr val="15171A"/>
          </a:solidFill>
          <a:ln w="12700">
            <a:solidFill>
              <a:srgbClr val="363A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269480" y="1005840"/>
            <a:ext cx="1828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The proof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269480" y="1627632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42BE65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5/5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7269480" y="2286000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capabilities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390888" y="1627632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231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9390888" y="2286000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AMD tests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2788920"/>
            <a:ext cx="1828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6B00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137.09×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7269480" y="3447288"/>
            <a:ext cx="1828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FP64 platform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390888" y="2788920"/>
            <a:ext cx="1691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BE95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0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9390888" y="344728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10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cloud calls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269480" y="4187952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5F7FA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Track 2 · Physics-First AI · NuclidePath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269480" y="47091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200" dirty="0">
                <a:solidFill>
                  <a:srgbClr val="78A9FF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Official AMD Track 2 PR package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269480" y="5303520"/>
            <a:ext cx="1874520" cy="292608"/>
          </a:xfrm>
          <a:prstGeom prst="roundRect">
            <a:avLst>
              <a:gd name="adj" fmla="val 25000"/>
            </a:avLst>
          </a:prstGeom>
          <a:solidFill>
            <a:srgbClr val="42BE65">
              <a:alpha val="22000"/>
            </a:srgbClr>
          </a:solidFill>
          <a:ln w="12700">
            <a:solidFill>
              <a:srgbClr val="42BE6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42632" y="5321808"/>
            <a:ext cx="172821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2BE6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TECHNICAL BUILD VERIFIED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58368" y="608076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A7ADB5"/>
                </a:solidFill>
                <a:latin typeface="Liberation Sans" pitchFamily="34" charset="0"/>
                <a:ea typeface="Liberation Sans" pitchFamily="34" charset="-122"/>
                <a:cs typeface="Liberation Sans" pitchFamily="34" charset="-120"/>
              </a:rPr>
              <a:t>THANK YOU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Liberation Sa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Liberation Sa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Physics-First 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NuclidePath — Private Physics-First Agent</dc:title>
  <dc:subject>AMD AI DevMaster Hackathon 2026 · Track 2</dc:subject>
  <dc:creator>Stefano Rigante · Physics-First AI</dc:creator>
  <cp:lastModifiedBy>Stefano Rigante · Physics-First AI</cp:lastModifiedBy>
  <cp:revision>1</cp:revision>
  <dcterms:created xsi:type="dcterms:W3CDTF">2026-07-29T11:18:08Z</dcterms:created>
  <dcterms:modified xsi:type="dcterms:W3CDTF">2026-07-29T11:18:08Z</dcterms:modified>
</cp:coreProperties>
</file>